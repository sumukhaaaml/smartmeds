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xfrm>
            <a:off x="1257300" y="547687"/>
            <a:ext cx="15773400" cy="1988346"/>
          </a:xfrm>
          <a:prstGeom prst="rect">
            <a:avLst/>
          </a:prstGeom>
        </p:spPr>
        <p:txBody>
          <a:bodyPr lIns="68579" tIns="68579" rIns="68579" bIns="68579"/>
          <a:lstStyle>
            <a:lvl1pPr algn="l" defTabSz="1371600">
              <a:lnSpc>
                <a:spcPct val="90000"/>
              </a:lnSpc>
              <a:defRPr sz="66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idx="1"/>
          </p:nvPr>
        </p:nvSpPr>
        <p:spPr>
          <a:xfrm>
            <a:off x="1257300" y="2738437"/>
            <a:ext cx="15773400" cy="6527008"/>
          </a:xfrm>
          <a:prstGeom prst="rect">
            <a:avLst/>
          </a:prstGeom>
        </p:spPr>
        <p:txBody>
          <a:bodyPr lIns="68579" tIns="68579" rIns="68579" bIns="68579"/>
          <a:lstStyle>
            <a:lvl1pPr defTabSz="1371600">
              <a:lnSpc>
                <a:spcPct val="90000"/>
              </a:lnSpc>
              <a:spcBef>
                <a:spcPts val="1500"/>
              </a:spcBef>
              <a:defRPr sz="4200"/>
            </a:lvl1pPr>
            <a:lvl2pPr marL="857250" indent="-400050" defTabSz="1371600">
              <a:lnSpc>
                <a:spcPct val="90000"/>
              </a:lnSpc>
              <a:spcBef>
                <a:spcPts val="1500"/>
              </a:spcBef>
              <a:buChar char="•"/>
              <a:defRPr sz="4200"/>
            </a:lvl2pPr>
            <a:lvl3pPr marL="1394460" indent="-480060" defTabSz="1371600">
              <a:lnSpc>
                <a:spcPct val="90000"/>
              </a:lnSpc>
              <a:spcBef>
                <a:spcPts val="1500"/>
              </a:spcBef>
              <a:defRPr sz="4200"/>
            </a:lvl3pPr>
            <a:lvl4pPr marL="1905000" indent="-533400" defTabSz="1371600">
              <a:lnSpc>
                <a:spcPct val="90000"/>
              </a:lnSpc>
              <a:spcBef>
                <a:spcPts val="1500"/>
              </a:spcBef>
              <a:buChar char="•"/>
              <a:defRPr sz="4200"/>
            </a:lvl4pPr>
            <a:lvl5pPr marL="2362200" indent="-533400" defTabSz="1371600">
              <a:lnSpc>
                <a:spcPct val="90000"/>
              </a:lnSpc>
              <a:spcBef>
                <a:spcPts val="1500"/>
              </a:spcBef>
              <a:buChar char="•"/>
              <a:defRPr sz="4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xfrm>
            <a:off x="16649114" y="9618965"/>
            <a:ext cx="381586" cy="378808"/>
          </a:xfrm>
          <a:prstGeom prst="rect">
            <a:avLst/>
          </a:prstGeom>
        </p:spPr>
        <p:txBody>
          <a:bodyPr lIns="68579" tIns="68579" rIns="68579" bIns="68579"/>
          <a:lstStyle>
            <a:lvl1pPr defTabSz="1371600"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hyperlink" Target="https://www.raspberrypi.com/documentation/" TargetMode="External"/><Relationship Id="rId4" Type="http://schemas.openxmlformats.org/officeDocument/2006/relationships/hyperlink" Target="https://docs.python.org/3/" TargetMode="External"/><Relationship Id="rId5" Type="http://schemas.openxmlformats.org/officeDocument/2006/relationships/hyperlink" Target="https://firebase.google.com/docs/database" TargetMode="External"/><Relationship Id="rId6" Type="http://schemas.openxmlformats.org/officeDocument/2006/relationships/hyperlink" Target="https://firebase.google.com/docs/database/security" TargetMode="External"/><Relationship Id="rId7" Type="http://schemas.openxmlformats.org/officeDocument/2006/relationships/hyperlink" Target="https://docs.python-requests.org/" TargetMode="External"/><Relationship Id="rId8" Type="http://schemas.openxmlformats.org/officeDocument/2006/relationships/hyperlink" Target="https://pypi.org/project/python-dotenv/" TargetMode="External"/><Relationship Id="rId9" Type="http://schemas.openxmlformats.org/officeDocument/2006/relationships/hyperlink" Target="https://sourceforge.net/p/raspberry-gpio-python/wiki/Home/" TargetMode="External"/><Relationship Id="rId10" Type="http://schemas.openxmlformats.org/officeDocument/2006/relationships/hyperlink" Target="https://github.com/espeak-ng/espeak-ng" TargetMode="External"/><Relationship Id="rId11" Type="http://schemas.openxmlformats.org/officeDocument/2006/relationships/hyperlink" Target="https://www.alsa-project.org/wiki/Main_Page" TargetMode="External"/><Relationship Id="rId12" Type="http://schemas.openxmlformats.org/officeDocument/2006/relationships/hyperlink" Target="https://www.tutorialspoint.com/embedded_systems/index.htm" TargetMode="Externa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29;p25"/>
          <p:cNvSpPr/>
          <p:nvPr/>
        </p:nvSpPr>
        <p:spPr>
          <a:xfrm>
            <a:off x="6272776" y="4156066"/>
            <a:ext cx="98753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04" name="Google Shape;130;p25"/>
          <p:cNvSpPr txBox="1"/>
          <p:nvPr/>
        </p:nvSpPr>
        <p:spPr>
          <a:xfrm>
            <a:off x="6440528" y="5534521"/>
            <a:ext cx="8960002" cy="115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3600"/>
            </a:pPr>
            <a:r>
              <a:t>Name:Sumukha ML</a:t>
            </a:r>
          </a:p>
          <a:p>
            <a:pPr defTabSz="1371600">
              <a:defRPr b="1" sz="3600"/>
            </a:pPr>
            <a:r>
              <a:t>SRN: PES1PG24CA184</a:t>
            </a:r>
          </a:p>
        </p:txBody>
      </p:sp>
      <p:grpSp>
        <p:nvGrpSpPr>
          <p:cNvPr id="109" name="Google Shape;131;p25"/>
          <p:cNvGrpSpPr/>
          <p:nvPr/>
        </p:nvGrpSpPr>
        <p:grpSpPr>
          <a:xfrm>
            <a:off x="470907" y="524200"/>
            <a:ext cx="17277471" cy="9327404"/>
            <a:chOff x="0" y="0"/>
            <a:chExt cx="17277468" cy="9327403"/>
          </a:xfrm>
        </p:grpSpPr>
        <p:sp>
          <p:nvSpPr>
            <p:cNvPr id="105" name="Google Shape;132;p25"/>
            <p:cNvSpPr/>
            <p:nvPr/>
          </p:nvSpPr>
          <p:spPr>
            <a:xfrm>
              <a:off x="17208889" y="16889"/>
              <a:ext cx="68401" cy="1600201"/>
            </a:xfrm>
            <a:prstGeom prst="rect">
              <a:avLst/>
            </a:prstGeom>
            <a:solidFill>
              <a:srgbClr val="F4B081"/>
            </a:solidFill>
            <a:ln w="12700" cap="flat">
              <a:noFill/>
              <a:miter lim="400000"/>
            </a:ln>
            <a:effectLst/>
          </p:spPr>
          <p:txBody>
            <a:bodyPr wrap="square" lIns="68579" tIns="68579" rIns="68579" bIns="68579" numCol="1" anchor="ctr">
              <a:noAutofit/>
            </a:bodyPr>
            <a:lstStyle/>
            <a:p>
              <a:pPr algn="ctr" defTabSz="1371600">
                <a:defRPr sz="2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6" name="Google Shape;133;p25"/>
            <p:cNvSpPr/>
            <p:nvPr/>
          </p:nvSpPr>
          <p:spPr>
            <a:xfrm rot="5400000">
              <a:off x="16443168" y="-765901"/>
              <a:ext cx="68401" cy="1600201"/>
            </a:xfrm>
            <a:prstGeom prst="rect">
              <a:avLst/>
            </a:prstGeom>
            <a:solidFill>
              <a:srgbClr val="F4B081"/>
            </a:solidFill>
            <a:ln w="12700" cap="flat">
              <a:noFill/>
              <a:miter lim="400000"/>
            </a:ln>
            <a:effectLst/>
          </p:spPr>
          <p:txBody>
            <a:bodyPr wrap="square" lIns="68579" tIns="68579" rIns="68579" bIns="68579" numCol="1" anchor="ctr">
              <a:noAutofit/>
            </a:bodyPr>
            <a:lstStyle/>
            <a:p>
              <a:pPr algn="ctr" defTabSz="1371600">
                <a:defRPr sz="2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7" name="Google Shape;134;p25"/>
            <p:cNvSpPr/>
            <p:nvPr/>
          </p:nvSpPr>
          <p:spPr>
            <a:xfrm rot="5400000">
              <a:off x="765899" y="8493103"/>
              <a:ext cx="68401" cy="1600201"/>
            </a:xfrm>
            <a:prstGeom prst="rect">
              <a:avLst/>
            </a:prstGeom>
            <a:solidFill>
              <a:srgbClr val="F4B081"/>
            </a:solidFill>
            <a:ln w="12700" cap="flat">
              <a:noFill/>
              <a:miter lim="400000"/>
            </a:ln>
            <a:effectLst/>
          </p:spPr>
          <p:txBody>
            <a:bodyPr wrap="square" lIns="68579" tIns="68579" rIns="68579" bIns="68579" numCol="1" anchor="ctr">
              <a:noAutofit/>
            </a:bodyPr>
            <a:lstStyle/>
            <a:p>
              <a:pPr algn="ctr" defTabSz="1371600">
                <a:defRPr sz="2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8" name="Google Shape;135;p25"/>
            <p:cNvSpPr/>
            <p:nvPr/>
          </p:nvSpPr>
          <p:spPr>
            <a:xfrm rot="10800000">
              <a:off x="35" y="7710492"/>
              <a:ext cx="68401" cy="1600201"/>
            </a:xfrm>
            <a:prstGeom prst="rect">
              <a:avLst/>
            </a:prstGeom>
            <a:solidFill>
              <a:srgbClr val="F4B081"/>
            </a:solidFill>
            <a:ln w="12700" cap="flat">
              <a:noFill/>
              <a:miter lim="400000"/>
            </a:ln>
            <a:effectLst/>
          </p:spPr>
          <p:txBody>
            <a:bodyPr wrap="square" lIns="68579" tIns="68579" rIns="68579" bIns="68579" numCol="1" anchor="ctr">
              <a:noAutofit/>
            </a:bodyPr>
            <a:lstStyle/>
            <a:p>
              <a:pPr algn="ctr" defTabSz="1371600">
                <a:defRPr sz="26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10" name="Google Shape;136;p25"/>
          <p:cNvSpPr txBox="1"/>
          <p:nvPr/>
        </p:nvSpPr>
        <p:spPr>
          <a:xfrm>
            <a:off x="6440528" y="1905314"/>
            <a:ext cx="8960002" cy="1687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>
            <a:lvl1pPr defTabSz="1371600">
              <a:defRPr b="1" sz="5400">
                <a:solidFill>
                  <a:srgbClr val="4472C4"/>
                </a:solidFill>
              </a:defRPr>
            </a:lvl1pPr>
          </a:lstStyle>
          <a:p>
            <a:pPr/>
            <a:r>
              <a:t>SmartMeds-Medicine Dispenser</a:t>
            </a:r>
          </a:p>
        </p:txBody>
      </p:sp>
      <p:pic>
        <p:nvPicPr>
          <p:cNvPr id="111" name="Google Shape;137;p25" descr="Google Shape;137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008" y="2385658"/>
            <a:ext cx="3935359" cy="5874844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Google Shape;138;p25"/>
          <p:cNvSpPr txBox="1"/>
          <p:nvPr/>
        </p:nvSpPr>
        <p:spPr>
          <a:xfrm>
            <a:off x="6440528" y="7788358"/>
            <a:ext cx="10285403" cy="115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3600"/>
            </a:pPr>
            <a:r>
              <a:t>Guide: </a:t>
            </a:r>
            <a:r>
              <a:t>Mr. Santosh Katti</a:t>
            </a:r>
          </a:p>
          <a:p>
            <a:pPr defTabSz="1371600">
              <a:defRPr b="1" sz="3600"/>
            </a:pPr>
            <a:r>
              <a:t>Department of Computer Applications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44;p26"/>
          <p:cNvSpPr txBox="1"/>
          <p:nvPr>
            <p:ph type="body" idx="1"/>
          </p:nvPr>
        </p:nvSpPr>
        <p:spPr>
          <a:xfrm>
            <a:off x="-685916" y="2165977"/>
            <a:ext cx="18288001" cy="7341105"/>
          </a:xfrm>
          <a:prstGeom prst="rect">
            <a:avLst/>
          </a:prstGeom>
        </p:spPr>
        <p:txBody>
          <a:bodyPr lIns="68550" tIns="68550" rIns="68550" bIns="68550"/>
          <a:lstStyle/>
          <a:p>
            <a:pPr marL="186790" indent="-186790" algn="just" defTabSz="946403">
              <a:lnSpc>
                <a:spcPts val="5400"/>
              </a:lnSpc>
              <a:spcBef>
                <a:spcPts val="0"/>
              </a:spcBef>
              <a:buFontTx/>
              <a:defRPr sz="4140"/>
            </a:pPr>
          </a:p>
          <a:p>
            <a:pPr lvl="2" marL="930492" indent="-404712" defTabSz="946403">
              <a:lnSpc>
                <a:spcPts val="3400"/>
              </a:lnSpc>
              <a:spcBef>
                <a:spcPts val="0"/>
              </a:spcBef>
              <a:buFontTx/>
              <a:defRPr sz="414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Medication non-adherence is a significant challenge, especially among elderly and visually-impaired patients. SmartMeds is an intelligent medicine dispensing system that integrates voice commands, speech recognition, and web-based control with a Raspberry Pi–powered hardware dispenser. The system allows users or caregivers to upload prescriptions via the web application, and the Raspberry Pi fetches instructions, processes voice input, and dispenses medicines accurately.</a:t>
            </a:r>
          </a:p>
          <a:p>
            <a:pPr lvl="2" marL="712570" indent="-186790" defTabSz="946403">
              <a:lnSpc>
                <a:spcPts val="3400"/>
              </a:lnSpc>
              <a:spcBef>
                <a:spcPts val="0"/>
              </a:spcBef>
              <a:buFontTx/>
              <a:defRPr sz="4140"/>
            </a:pPr>
          </a:p>
          <a:p>
            <a:pPr lvl="2" marL="930492" indent="-404712" defTabSz="946403">
              <a:lnSpc>
                <a:spcPts val="3400"/>
              </a:lnSpc>
              <a:spcBef>
                <a:spcPts val="0"/>
              </a:spcBef>
              <a:buFontTx/>
              <a:defRPr sz="414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The solution leverages IoT communication, Python-based ASR, and secure web APIs to ensure seamless interaction. The dispenser provides scheduled reminders, voice instructions, real-time logs, and a safe, tamper-proof dispensing mechanism. This project improves medication adherence, reduces human error, and enhances accessibility for individuals with disabilities.</a:t>
            </a:r>
          </a:p>
        </p:txBody>
      </p:sp>
      <p:sp>
        <p:nvSpPr>
          <p:cNvPr id="115" name="Google Shape;145;p26"/>
          <p:cNvSpPr/>
          <p:nvPr/>
        </p:nvSpPr>
        <p:spPr>
          <a:xfrm>
            <a:off x="386964" y="2138344"/>
            <a:ext cx="14218800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16" name="Google Shape;146;p26"/>
          <p:cNvSpPr txBox="1"/>
          <p:nvPr/>
        </p:nvSpPr>
        <p:spPr>
          <a:xfrm>
            <a:off x="346462" y="449800"/>
            <a:ext cx="14558058" cy="298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Abstract</a:t>
            </a:r>
          </a:p>
          <a:p>
            <a:pPr indent="156194" algn="just" defTabSz="1371600">
              <a:lnSpc>
                <a:spcPct val="140000"/>
              </a:lnSpc>
              <a:defRPr sz="42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11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20560" y="257897"/>
            <a:ext cx="1280478" cy="19397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44;p26"/>
          <p:cNvSpPr txBox="1"/>
          <p:nvPr>
            <p:ph type="body" idx="1"/>
          </p:nvPr>
        </p:nvSpPr>
        <p:spPr>
          <a:xfrm>
            <a:off x="277862" y="2683249"/>
            <a:ext cx="15142279" cy="6695766"/>
          </a:xfrm>
          <a:prstGeom prst="rect">
            <a:avLst/>
          </a:prstGeom>
        </p:spPr>
        <p:txBody>
          <a:bodyPr lIns="68550" tIns="68550" rIns="68550" bIns="68550"/>
          <a:lstStyle/>
          <a:p>
            <a:pPr marL="0" indent="0" algn="just" defTabSz="836676">
              <a:lnSpc>
                <a:spcPts val="6200"/>
              </a:lnSpc>
              <a:spcBef>
                <a:spcPts val="0"/>
              </a:spcBef>
              <a:buSzTx/>
              <a:buFontTx/>
              <a:buNone/>
              <a:defRPr sz="366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Medication errors, forgetfulness, poor visibility of pill labels, and complex dosage schedules lead to major health risks. Elderly patients or patients with chronic diseases often forget dosages, leading to complications.</a:t>
            </a:r>
          </a:p>
          <a:p>
            <a:pPr marL="0" indent="0" algn="just" defTabSz="836676">
              <a:lnSpc>
                <a:spcPts val="6200"/>
              </a:lnSpc>
              <a:spcBef>
                <a:spcPts val="0"/>
              </a:spcBef>
              <a:buSzTx/>
              <a:buFontTx/>
              <a:buNone/>
              <a:defRPr sz="366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Key real-world issues:</a:t>
            </a:r>
          </a:p>
          <a:p>
            <a:pPr lvl="2" marL="658882" indent="-282378" algn="just" defTabSz="836676">
              <a:lnSpc>
                <a:spcPts val="6200"/>
              </a:lnSpc>
              <a:spcBef>
                <a:spcPts val="0"/>
              </a:spcBef>
              <a:buChar char="⚬"/>
              <a:defRPr sz="366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Missed or incorrect dosage.</a:t>
            </a:r>
          </a:p>
          <a:p>
            <a:pPr lvl="2" marL="658882" indent="-282378" algn="just" defTabSz="836676">
              <a:lnSpc>
                <a:spcPts val="6200"/>
              </a:lnSpc>
              <a:spcBef>
                <a:spcPts val="0"/>
              </a:spcBef>
              <a:buChar char="⚬"/>
              <a:defRPr sz="366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Patients unable to read prescriptions.</a:t>
            </a:r>
          </a:p>
          <a:p>
            <a:pPr lvl="2" marL="658882" indent="-282378" algn="just" defTabSz="836676">
              <a:lnSpc>
                <a:spcPts val="6200"/>
              </a:lnSpc>
              <a:spcBef>
                <a:spcPts val="0"/>
              </a:spcBef>
              <a:buChar char="⚬"/>
              <a:defRPr sz="366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Lack of real-time caregiver monitoring.</a:t>
            </a:r>
          </a:p>
          <a:p>
            <a:pPr lvl="2" marL="658882" indent="-282378" algn="just" defTabSz="836676">
              <a:lnSpc>
                <a:spcPts val="6200"/>
              </a:lnSpc>
              <a:spcBef>
                <a:spcPts val="0"/>
              </a:spcBef>
              <a:buChar char="⚬"/>
              <a:defRPr sz="366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Zero voice-controlled, low-cost dispensers available</a:t>
            </a:r>
          </a:p>
        </p:txBody>
      </p:sp>
      <p:sp>
        <p:nvSpPr>
          <p:cNvPr id="120" name="Google Shape;145;p26"/>
          <p:cNvSpPr/>
          <p:nvPr/>
        </p:nvSpPr>
        <p:spPr>
          <a:xfrm>
            <a:off x="386964" y="2138344"/>
            <a:ext cx="14218800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21" name="Google Shape;146;p26"/>
          <p:cNvSpPr txBox="1"/>
          <p:nvPr/>
        </p:nvSpPr>
        <p:spPr>
          <a:xfrm>
            <a:off x="346462" y="449800"/>
            <a:ext cx="14558058" cy="298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Problem Statement</a:t>
            </a:r>
          </a:p>
          <a:p>
            <a:pPr indent="156194" algn="just" defTabSz="1371600">
              <a:lnSpc>
                <a:spcPct val="140000"/>
              </a:lnSpc>
              <a:defRPr sz="42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12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20560" y="257897"/>
            <a:ext cx="1280478" cy="19397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44;p26"/>
          <p:cNvSpPr txBox="1"/>
          <p:nvPr>
            <p:ph type="body" idx="1"/>
          </p:nvPr>
        </p:nvSpPr>
        <p:spPr>
          <a:xfrm>
            <a:off x="277862" y="2683249"/>
            <a:ext cx="15142279" cy="6695766"/>
          </a:xfrm>
          <a:prstGeom prst="rect">
            <a:avLst/>
          </a:prstGeom>
        </p:spPr>
        <p:txBody>
          <a:bodyPr lIns="68550" tIns="68550" rIns="68550" bIns="68550"/>
          <a:lstStyle/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Voice-controlled medicine dispensing.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Web-based interface for caregivers to upload schedules.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Raspberry Pi executes dispensing actions.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Audio reminders and confirmations.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Secure communication between cloud and hardware.</a:t>
            </a:r>
          </a:p>
        </p:txBody>
      </p:sp>
      <p:sp>
        <p:nvSpPr>
          <p:cNvPr id="125" name="Google Shape;145;p26"/>
          <p:cNvSpPr/>
          <p:nvPr/>
        </p:nvSpPr>
        <p:spPr>
          <a:xfrm>
            <a:off x="386964" y="2138344"/>
            <a:ext cx="14218800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26" name="Google Shape;146;p26"/>
          <p:cNvSpPr txBox="1"/>
          <p:nvPr/>
        </p:nvSpPr>
        <p:spPr>
          <a:xfrm>
            <a:off x="346462" y="449800"/>
            <a:ext cx="14558058" cy="2347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indent="156194" algn="just" defTabSz="1371600">
              <a:lnSpc>
                <a:spcPct val="140000"/>
              </a:lnSpc>
              <a:defRPr b="1" sz="4200">
                <a:latin typeface="Arial"/>
                <a:ea typeface="Arial"/>
                <a:cs typeface="Arial"/>
                <a:sym typeface="Arial"/>
              </a:defRPr>
            </a:pPr>
            <a:r>
              <a:t>Proposed Solution</a:t>
            </a:r>
          </a:p>
        </p:txBody>
      </p:sp>
      <p:pic>
        <p:nvPicPr>
          <p:cNvPr id="12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20560" y="257897"/>
            <a:ext cx="1280478" cy="19397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44;p26"/>
          <p:cNvSpPr txBox="1"/>
          <p:nvPr>
            <p:ph type="body" idx="1"/>
          </p:nvPr>
        </p:nvSpPr>
        <p:spPr>
          <a:xfrm>
            <a:off x="277862" y="2683249"/>
            <a:ext cx="15142279" cy="6695766"/>
          </a:xfrm>
          <a:prstGeom prst="rect">
            <a:avLst/>
          </a:prstGeom>
        </p:spPr>
        <p:txBody>
          <a:bodyPr lIns="68550" tIns="68550" rIns="68550" bIns="68550"/>
          <a:lstStyle/>
          <a:p>
            <a:pPr marL="180473" indent="-180473" algn="just" defTabSz="914400">
              <a:lnSpc>
                <a:spcPts val="7500"/>
              </a:lnSpc>
              <a:spcBef>
                <a:spcPts val="0"/>
              </a:spcBef>
              <a:buFontTx/>
              <a:defRPr sz="4000"/>
            </a:pP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Improve medication adherence.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Provide a low-cost, accessible dispenser.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Enable remote monitoring and control.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Provide voice assistance to visually-impaired patients.</a:t>
            </a:r>
          </a:p>
        </p:txBody>
      </p:sp>
      <p:sp>
        <p:nvSpPr>
          <p:cNvPr id="130" name="Google Shape;145;p26"/>
          <p:cNvSpPr/>
          <p:nvPr/>
        </p:nvSpPr>
        <p:spPr>
          <a:xfrm>
            <a:off x="386964" y="2138344"/>
            <a:ext cx="14218800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31" name="Google Shape;146;p26"/>
          <p:cNvSpPr txBox="1"/>
          <p:nvPr/>
        </p:nvSpPr>
        <p:spPr>
          <a:xfrm>
            <a:off x="346462" y="449800"/>
            <a:ext cx="14558058" cy="2325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indent="156194" algn="just" defTabSz="1371600">
              <a:lnSpc>
                <a:spcPct val="140000"/>
              </a:lnSpc>
              <a:defRPr sz="4200">
                <a:latin typeface="Arial"/>
                <a:ea typeface="Arial"/>
                <a:cs typeface="Arial"/>
                <a:sym typeface="Arial"/>
              </a:defRPr>
            </a:pPr>
            <a:r>
              <a:t>Purpose</a:t>
            </a:r>
          </a:p>
        </p:txBody>
      </p:sp>
      <p:pic>
        <p:nvPicPr>
          <p:cNvPr id="13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20560" y="257897"/>
            <a:ext cx="1280478" cy="19397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44;p26"/>
          <p:cNvSpPr txBox="1"/>
          <p:nvPr>
            <p:ph type="body" idx="1"/>
          </p:nvPr>
        </p:nvSpPr>
        <p:spPr>
          <a:xfrm>
            <a:off x="659488" y="2471114"/>
            <a:ext cx="15948869" cy="6327555"/>
          </a:xfrm>
          <a:prstGeom prst="rect">
            <a:avLst/>
          </a:prstGeom>
        </p:spPr>
        <p:txBody>
          <a:bodyPr lIns="68550" tIns="68550" rIns="68550" bIns="68550"/>
          <a:lstStyle/>
          <a:p>
            <a:pPr marL="401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The system includes: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Web app (authentication, schedule creation, logs).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Hardware dispenser (Pi + servo motors+ DC Motors).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Voice command processing.</a:t>
            </a:r>
          </a:p>
          <a:p>
            <a:pPr lvl="2" marL="1163052" indent="-401052" algn="just" defTabSz="914400">
              <a:lnSpc>
                <a:spcPts val="6800"/>
              </a:lnSpc>
              <a:spcBef>
                <a:spcPts val="0"/>
              </a:spcBef>
              <a:buFontTx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Real-time API communication.</a:t>
            </a:r>
          </a:p>
        </p:txBody>
      </p:sp>
      <p:sp>
        <p:nvSpPr>
          <p:cNvPr id="135" name="Google Shape;145;p26"/>
          <p:cNvSpPr/>
          <p:nvPr/>
        </p:nvSpPr>
        <p:spPr>
          <a:xfrm>
            <a:off x="274356" y="1860319"/>
            <a:ext cx="14218800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36" name="Google Shape;146;p26"/>
          <p:cNvSpPr txBox="1"/>
          <p:nvPr/>
        </p:nvSpPr>
        <p:spPr>
          <a:xfrm>
            <a:off x="342955" y="228616"/>
            <a:ext cx="15192239" cy="21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Scope</a:t>
            </a:r>
            <a:r>
              <a:rPr sz="4800"/>
              <a:t> </a:t>
            </a:r>
          </a:p>
        </p:txBody>
      </p:sp>
      <p:pic>
        <p:nvPicPr>
          <p:cNvPr id="13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40" name="Google Shape;146;p26"/>
          <p:cNvSpPr txBox="1"/>
          <p:nvPr/>
        </p:nvSpPr>
        <p:spPr>
          <a:xfrm>
            <a:off x="351845" y="19852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Literature Survey</a:t>
            </a:r>
          </a:p>
          <a:p>
            <a:pPr defTabSz="1371600">
              <a:defRPr b="1" sz="4200"/>
            </a:pPr>
            <a:r>
              <a:t>Paper 1</a:t>
            </a:r>
          </a:p>
        </p:txBody>
      </p:sp>
      <p:pic>
        <p:nvPicPr>
          <p:cNvPr id="14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Content Placeholder 3"/>
          <p:cNvSpPr txBox="1"/>
          <p:nvPr>
            <p:ph type="body" idx="1"/>
          </p:nvPr>
        </p:nvSpPr>
        <p:spPr>
          <a:xfrm>
            <a:off x="398206" y="2115772"/>
            <a:ext cx="16210152" cy="8010717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Title</a:t>
            </a:r>
            <a:r>
              <a:rPr b="0"/>
              <a:t>: An Intelligent Pill Dispenser Using IoT for Chronic Patients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Conference:</a:t>
            </a:r>
            <a:r>
              <a:rPr b="0"/>
              <a:t> IEEE International Conference on IoT and Applications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Year: </a:t>
            </a:r>
            <a:r>
              <a:rPr b="0"/>
              <a:t>2020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Authors: </a:t>
            </a:r>
            <a:r>
              <a:rPr b="0"/>
              <a:t>S. T. George et al.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Summary: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Introduces an IoT pill dispenser with scheduling, reminders, and remote caregiver monitoring. Uses sensors to detect pill removal.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Relevance: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Matches SmartMeds IoT + cloud design.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45" name="Google Shape;146;p26"/>
          <p:cNvSpPr txBox="1"/>
          <p:nvPr/>
        </p:nvSpPr>
        <p:spPr>
          <a:xfrm>
            <a:off x="351845" y="19852"/>
            <a:ext cx="15192240" cy="142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Literature Survey</a:t>
            </a:r>
          </a:p>
          <a:p>
            <a:pPr defTabSz="1371600">
              <a:defRPr b="1" sz="4200"/>
            </a:pPr>
            <a:r>
              <a:t>Paper 2</a:t>
            </a:r>
          </a:p>
        </p:txBody>
      </p:sp>
      <p:pic>
        <p:nvPicPr>
          <p:cNvPr id="14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Content Placeholder 3"/>
          <p:cNvSpPr txBox="1"/>
          <p:nvPr>
            <p:ph type="body" idx="1"/>
          </p:nvPr>
        </p:nvSpPr>
        <p:spPr>
          <a:xfrm>
            <a:off x="398206" y="2115772"/>
            <a:ext cx="16210152" cy="8010717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Title:</a:t>
            </a:r>
            <a:r>
              <a:rPr b="0"/>
              <a:t> Smart Medicine Box for Automatic Medication Reminder and Monitoring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Conference</a:t>
            </a:r>
            <a:r>
              <a:rPr b="0"/>
              <a:t>: IEEE International Conference on Communication and Electronics Systems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Year</a:t>
            </a:r>
            <a:r>
              <a:rPr b="0"/>
              <a:t>: 2021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Authors</a:t>
            </a:r>
            <a:r>
              <a:rPr b="0"/>
              <a:t>: N. R. Prasad et al.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Summary</a:t>
            </a:r>
            <a:r>
              <a:rPr b="0"/>
              <a:t>: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Discusses an automated system with notification alerts, pill schedule management, and cloud connectivity.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Relevance</a:t>
            </a:r>
            <a:r>
              <a:rPr b="0"/>
              <a:t>: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Similar scheduling and reminder module as SmartMeds.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50" name="Google Shape;146;p26"/>
          <p:cNvSpPr txBox="1"/>
          <p:nvPr/>
        </p:nvSpPr>
        <p:spPr>
          <a:xfrm>
            <a:off x="351845" y="19852"/>
            <a:ext cx="15192240" cy="142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Literature Survey</a:t>
            </a:r>
          </a:p>
          <a:p>
            <a:pPr defTabSz="1371600">
              <a:defRPr b="1" sz="4200"/>
            </a:pPr>
            <a:r>
              <a:t>Paper 3</a:t>
            </a:r>
          </a:p>
        </p:txBody>
      </p:sp>
      <p:pic>
        <p:nvPicPr>
          <p:cNvPr id="15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Content Placeholder 3"/>
          <p:cNvSpPr txBox="1"/>
          <p:nvPr>
            <p:ph type="body" idx="1"/>
          </p:nvPr>
        </p:nvSpPr>
        <p:spPr>
          <a:xfrm>
            <a:off x="398206" y="2115772"/>
            <a:ext cx="16210152" cy="8010717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t>Title:</a:t>
            </a:r>
            <a:r>
              <a:rPr b="0">
                <a:latin typeface="Calibri (MS)"/>
                <a:ea typeface="Calibri (MS)"/>
                <a:cs typeface="Calibri (MS)"/>
                <a:sym typeface="Calibri (MS)"/>
              </a:rPr>
              <a:t> IoT Based Medication Reminder System for Elderly People</a:t>
            </a:r>
            <a:endParaRPr b="0">
              <a:latin typeface="Calibri (MS)"/>
              <a:ea typeface="Calibri (MS)"/>
              <a:cs typeface="Calibri (MS)"/>
              <a:sym typeface="Calibri (MS)"/>
            </a:endParaRP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t>Conference</a:t>
            </a:r>
            <a:r>
              <a:rPr b="0">
                <a:latin typeface="Calibri (MS)"/>
                <a:ea typeface="Calibri (MS)"/>
                <a:cs typeface="Calibri (MS)"/>
                <a:sym typeface="Calibri (MS)"/>
              </a:rPr>
              <a:t>: IEEE International Conference on Computing Methodologies</a:t>
            </a:r>
            <a:endParaRPr b="0">
              <a:latin typeface="Calibri (MS)"/>
              <a:ea typeface="Calibri (MS)"/>
              <a:cs typeface="Calibri (MS)"/>
              <a:sym typeface="Calibri (MS)"/>
            </a:endParaRP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t>Year</a:t>
            </a:r>
            <a:r>
              <a:rPr b="0">
                <a:latin typeface="Calibri (MS)"/>
                <a:ea typeface="Calibri (MS)"/>
                <a:cs typeface="Calibri (MS)"/>
                <a:sym typeface="Calibri (MS)"/>
              </a:rPr>
              <a:t>: 2020</a:t>
            </a:r>
            <a:endParaRPr b="0">
              <a:latin typeface="Calibri (MS)"/>
              <a:ea typeface="Calibri (MS)"/>
              <a:cs typeface="Calibri (MS)"/>
              <a:sym typeface="Calibri (MS)"/>
            </a:endParaRP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Authors: A. Chatterjee et al.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t>Summary: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Focuses on an IoT-enabled system for scheduling reminders through mobile apps and sensors.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t>Relevance: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SmartMeds uses similar caregiver-to-device communication.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55" name="Google Shape;146;p26"/>
          <p:cNvSpPr txBox="1"/>
          <p:nvPr/>
        </p:nvSpPr>
        <p:spPr>
          <a:xfrm>
            <a:off x="351845" y="19852"/>
            <a:ext cx="15192240" cy="142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Literature Survey</a:t>
            </a:r>
          </a:p>
          <a:p>
            <a:pPr defTabSz="1371600">
              <a:defRPr b="1" sz="4200"/>
            </a:pPr>
            <a:r>
              <a:t>Paper 4</a:t>
            </a:r>
          </a:p>
        </p:txBody>
      </p:sp>
      <p:pic>
        <p:nvPicPr>
          <p:cNvPr id="15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Content Placeholder 3"/>
          <p:cNvSpPr txBox="1"/>
          <p:nvPr>
            <p:ph type="body" idx="1"/>
          </p:nvPr>
        </p:nvSpPr>
        <p:spPr>
          <a:xfrm>
            <a:off x="398206" y="2115772"/>
            <a:ext cx="16210152" cy="8010717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Title:</a:t>
            </a:r>
            <a:r>
              <a:rPr b="0"/>
              <a:t> Voice Enabled Assistive Health Monitoring System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Conference: </a:t>
            </a:r>
            <a:r>
              <a:rPr b="0"/>
              <a:t>IEEE International Conference on Inventive Systems and Control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Year: </a:t>
            </a:r>
            <a:r>
              <a:rPr b="0"/>
              <a:t>2021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Authors: V. S. Reddy et al.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Summary: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Develops a voice-controlled health monitoring system for elderly patients.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Relevance: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Supports SmartMeds’ use of speech recognition &amp; assistive voice features.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60" name="Google Shape;146;p26"/>
          <p:cNvSpPr txBox="1"/>
          <p:nvPr/>
        </p:nvSpPr>
        <p:spPr>
          <a:xfrm>
            <a:off x="351845" y="19852"/>
            <a:ext cx="15192240" cy="142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Literature Survey</a:t>
            </a:r>
          </a:p>
          <a:p>
            <a:pPr defTabSz="1371600">
              <a:defRPr b="1" sz="4200"/>
            </a:pPr>
            <a:r>
              <a:t>Paper 5</a:t>
            </a:r>
          </a:p>
        </p:txBody>
      </p:sp>
      <p:pic>
        <p:nvPicPr>
          <p:cNvPr id="16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Content Placeholder 3"/>
          <p:cNvSpPr txBox="1"/>
          <p:nvPr>
            <p:ph type="body" idx="1"/>
          </p:nvPr>
        </p:nvSpPr>
        <p:spPr>
          <a:xfrm>
            <a:off x="398206" y="2115772"/>
            <a:ext cx="16210152" cy="8010717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Title:</a:t>
            </a:r>
            <a:r>
              <a:rPr b="0"/>
              <a:t> IoT Based Smart Pill Box with Real-Time Monitoring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Conference:</a:t>
            </a:r>
            <a:r>
              <a:rPr b="0"/>
              <a:t> IEEE International Conference on Intelligent Sustainable Systems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Year: </a:t>
            </a:r>
            <a:r>
              <a:rPr b="0"/>
              <a:t>2022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Authors: M. Shankar et al.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Summary: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Implements a smart pillbox with IR sensors, alerts, and cloud connectivity for real-time logs.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Relevance: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Matches SmartMeds’ verification sensor system.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65" name="Google Shape;146;p26"/>
          <p:cNvSpPr txBox="1"/>
          <p:nvPr/>
        </p:nvSpPr>
        <p:spPr>
          <a:xfrm>
            <a:off x="351845" y="19852"/>
            <a:ext cx="15192240" cy="142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Literature Survey</a:t>
            </a:r>
          </a:p>
          <a:p>
            <a:pPr defTabSz="1371600">
              <a:defRPr b="1" sz="4200"/>
            </a:pPr>
            <a:r>
              <a:t>Paper 6</a:t>
            </a:r>
          </a:p>
        </p:txBody>
      </p:sp>
      <p:pic>
        <p:nvPicPr>
          <p:cNvPr id="1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Content Placeholder 3"/>
          <p:cNvSpPr txBox="1"/>
          <p:nvPr>
            <p:ph type="body" idx="1"/>
          </p:nvPr>
        </p:nvSpPr>
        <p:spPr>
          <a:xfrm>
            <a:off x="398206" y="2115772"/>
            <a:ext cx="16210152" cy="8010717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Title:</a:t>
            </a:r>
            <a:r>
              <a:rPr b="0"/>
              <a:t> RFID and IoT Based Smart Medicine Dispenser System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Journal:</a:t>
            </a:r>
            <a:r>
              <a:rPr b="0"/>
              <a:t> IEEE Access (Open Access)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Year: </a:t>
            </a:r>
            <a:r>
              <a:rPr b="0"/>
              <a:t>2021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Authors:</a:t>
            </a:r>
            <a:r>
              <a:rPr b="0"/>
              <a:t> P. Singh et al.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Summary: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A secure IoT medicine dispenser using RFID authentication and remote alerts.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Relevance: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Useful for SmartMeds’ future upgrade: tamper-proof security.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70" name="Google Shape;146;p26"/>
          <p:cNvSpPr txBox="1"/>
          <p:nvPr/>
        </p:nvSpPr>
        <p:spPr>
          <a:xfrm>
            <a:off x="351845" y="19852"/>
            <a:ext cx="15192240" cy="142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Literature Survey</a:t>
            </a:r>
          </a:p>
          <a:p>
            <a:pPr defTabSz="1371600">
              <a:defRPr b="1" sz="4200"/>
            </a:pPr>
            <a:r>
              <a:t>Paper 7</a:t>
            </a:r>
          </a:p>
        </p:txBody>
      </p:sp>
      <p:pic>
        <p:nvPicPr>
          <p:cNvPr id="17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Content Placeholder 3"/>
          <p:cNvSpPr txBox="1"/>
          <p:nvPr>
            <p:ph type="body" idx="1"/>
          </p:nvPr>
        </p:nvSpPr>
        <p:spPr>
          <a:xfrm>
            <a:off x="398206" y="2115772"/>
            <a:ext cx="16210152" cy="8010717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ts val="50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Title:</a:t>
            </a:r>
            <a:r>
              <a:rPr b="0"/>
              <a:t>Machine Learning Based Elderly Healthcare Assistance System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Conference:</a:t>
            </a:r>
            <a:r>
              <a:rPr b="0"/>
              <a:t> IEEE International Conference on Machine Learning and Applications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Year: </a:t>
            </a:r>
            <a:r>
              <a:rPr b="0"/>
              <a:t>2022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Authors:</a:t>
            </a:r>
            <a:r>
              <a:rPr b="0"/>
              <a:t> J. Park et al.</a:t>
            </a:r>
            <a:endParaRPr b="0"/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Summary: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Uses ML models to track and predict elderly behavior patterns.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Relevance:</a:t>
            </a:r>
          </a:p>
          <a:p>
            <a:pPr marL="0" indent="0" algn="just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SmartMeds can integrate ML for adherence prediction &amp; dosage optimization.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75" name="Google Shape;146;p26"/>
          <p:cNvSpPr txBox="1"/>
          <p:nvPr/>
        </p:nvSpPr>
        <p:spPr>
          <a:xfrm>
            <a:off x="351845" y="19852"/>
            <a:ext cx="15192240" cy="142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Literature Survey</a:t>
            </a:r>
          </a:p>
          <a:p>
            <a:pPr defTabSz="1371600">
              <a:defRPr b="1" sz="4200"/>
            </a:pPr>
            <a:r>
              <a:t>Paper 8</a:t>
            </a:r>
          </a:p>
        </p:txBody>
      </p:sp>
      <p:pic>
        <p:nvPicPr>
          <p:cNvPr id="17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Content Placeholder 3"/>
          <p:cNvSpPr txBox="1"/>
          <p:nvPr>
            <p:ph type="body" idx="1"/>
          </p:nvPr>
        </p:nvSpPr>
        <p:spPr>
          <a:xfrm>
            <a:off x="398206" y="2115772"/>
            <a:ext cx="16210152" cy="8010717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ts val="40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Title:</a:t>
            </a:r>
            <a:r>
              <a:rPr b="0"/>
              <a:t> Deep Learning Based Voice Recognition for Assistive Devices</a:t>
            </a:r>
            <a:endParaRPr b="0"/>
          </a:p>
          <a:p>
            <a:pPr marL="0" indent="0" algn="just" defTabSz="914400">
              <a:lnSpc>
                <a:spcPts val="40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Conference:</a:t>
            </a:r>
            <a:r>
              <a:rPr b="0"/>
              <a:t> IEEE International Conference on Artificial Intelligence and Data Engineering</a:t>
            </a:r>
            <a:endParaRPr b="0"/>
          </a:p>
          <a:p>
            <a:pPr marL="0" indent="0" algn="just" defTabSz="914400">
              <a:lnSpc>
                <a:spcPts val="40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Year: 2020</a:t>
            </a:r>
          </a:p>
          <a:p>
            <a:pPr marL="0" indent="0" algn="just" defTabSz="914400">
              <a:lnSpc>
                <a:spcPts val="40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Authors: H. Lin et al.</a:t>
            </a:r>
          </a:p>
          <a:p>
            <a:pPr marL="0" indent="0" algn="just" defTabSz="914400">
              <a:lnSpc>
                <a:spcPts val="40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Summary:</a:t>
            </a:r>
          </a:p>
          <a:p>
            <a:pPr marL="0" indent="0" algn="just" defTabSz="914400">
              <a:lnSpc>
                <a:spcPts val="4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Uses CNN/RNN models for offline speech recognition in assistive devices.</a:t>
            </a:r>
          </a:p>
          <a:p>
            <a:pPr marL="0" indent="0" algn="just" defTabSz="914400">
              <a:lnSpc>
                <a:spcPts val="4000"/>
              </a:lnSpc>
              <a:spcBef>
                <a:spcPts val="0"/>
              </a:spcBef>
              <a:buSzTx/>
              <a:buFontTx/>
              <a:buNone/>
              <a:defRPr b="1" sz="4000"/>
            </a:pPr>
            <a:r>
              <a:t>Relevance:</a:t>
            </a:r>
          </a:p>
          <a:p>
            <a:pPr marL="0" indent="0" algn="just" defTabSz="914400">
              <a:lnSpc>
                <a:spcPts val="4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t>Supports SmartMeds’ ASR module (Vosk/Whisper).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80" name="Google Shape;146;p26"/>
          <p:cNvSpPr txBox="1"/>
          <p:nvPr/>
        </p:nvSpPr>
        <p:spPr>
          <a:xfrm>
            <a:off x="351845" y="19852"/>
            <a:ext cx="15192240" cy="142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>
            <a:lvl1pPr defTabSz="1371600">
              <a:defRPr b="1" sz="4800">
                <a:solidFill>
                  <a:srgbClr val="4472C4"/>
                </a:solidFill>
              </a:defRPr>
            </a:lvl1pPr>
          </a:lstStyle>
          <a:p>
            <a:pPr/>
            <a:r>
              <a:t>Comparative Study</a:t>
            </a:r>
          </a:p>
        </p:txBody>
      </p:sp>
      <p:pic>
        <p:nvPicPr>
          <p:cNvPr id="18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Freeform 9"/>
          <p:cNvSpPr/>
          <p:nvPr/>
        </p:nvSpPr>
        <p:spPr>
          <a:xfrm>
            <a:off x="1582954" y="1784665"/>
            <a:ext cx="14542827" cy="846580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45;p26"/>
          <p:cNvSpPr/>
          <p:nvPr/>
        </p:nvSpPr>
        <p:spPr>
          <a:xfrm>
            <a:off x="398207" y="1616797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85" name="Google Shape;146;p26"/>
          <p:cNvSpPr txBox="1"/>
          <p:nvPr/>
        </p:nvSpPr>
        <p:spPr>
          <a:xfrm>
            <a:off x="351845" y="19852"/>
            <a:ext cx="15192240" cy="142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>
            <a:lvl1pPr defTabSz="1371600">
              <a:defRPr b="1" sz="4800">
                <a:solidFill>
                  <a:srgbClr val="4472C4"/>
                </a:solidFill>
              </a:defRPr>
            </a:lvl1pPr>
          </a:lstStyle>
          <a:p>
            <a:pPr/>
            <a:r>
              <a:t>Tools and Technologies</a:t>
            </a:r>
          </a:p>
        </p:txBody>
      </p:sp>
      <p:pic>
        <p:nvPicPr>
          <p:cNvPr id="18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Box 2"/>
          <p:cNvSpPr txBox="1"/>
          <p:nvPr/>
        </p:nvSpPr>
        <p:spPr>
          <a:xfrm>
            <a:off x="587819" y="2997898"/>
            <a:ext cx="6016376" cy="4374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5800"/>
              </a:lnSpc>
              <a:defRPr b="1" sz="3500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t>Hardware</a:t>
            </a:r>
          </a:p>
          <a:p>
            <a:pPr lvl="2" marL="800101" indent="-266700" algn="just">
              <a:lnSpc>
                <a:spcPts val="5800"/>
              </a:lnSpc>
              <a:buSzPct val="100000"/>
              <a:buFont typeface="Arial"/>
              <a:buChar char="⚬"/>
              <a:defRPr sz="35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Raspberry Pi 3B+</a:t>
            </a:r>
          </a:p>
          <a:p>
            <a:pPr lvl="2" marL="800101" indent="-266700" algn="just">
              <a:lnSpc>
                <a:spcPts val="5800"/>
              </a:lnSpc>
              <a:buSzPct val="100000"/>
              <a:buFont typeface="Arial"/>
              <a:buChar char="⚬"/>
              <a:defRPr sz="35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Servo motors</a:t>
            </a:r>
          </a:p>
          <a:p>
            <a:pPr lvl="2" marL="800101" indent="-266700" algn="just">
              <a:lnSpc>
                <a:spcPts val="5800"/>
              </a:lnSpc>
              <a:buSzPct val="100000"/>
              <a:buFont typeface="Arial"/>
              <a:buChar char="⚬"/>
              <a:defRPr sz="35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DC motor</a:t>
            </a:r>
          </a:p>
          <a:p>
            <a:pPr lvl="2" marL="800101" indent="-266700" algn="just">
              <a:lnSpc>
                <a:spcPts val="5800"/>
              </a:lnSpc>
              <a:buSzPct val="100000"/>
              <a:buFont typeface="Arial"/>
              <a:buChar char="⚬"/>
              <a:defRPr sz="35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IR sensor</a:t>
            </a:r>
          </a:p>
          <a:p>
            <a:pPr lvl="2" marL="800101" indent="-266700" algn="just">
              <a:lnSpc>
                <a:spcPts val="5800"/>
              </a:lnSpc>
              <a:buSzPct val="100000"/>
              <a:buFont typeface="Arial"/>
              <a:buChar char="⚬"/>
              <a:defRPr sz="35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Audio speaker</a:t>
            </a:r>
          </a:p>
        </p:txBody>
      </p:sp>
      <p:sp>
        <p:nvSpPr>
          <p:cNvPr id="188" name="TextBox 9"/>
          <p:cNvSpPr txBox="1"/>
          <p:nvPr/>
        </p:nvSpPr>
        <p:spPr>
          <a:xfrm>
            <a:off x="8324412" y="3188399"/>
            <a:ext cx="5608440" cy="6682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800"/>
              </a:lnSpc>
              <a:defRPr b="1" sz="3400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t>Software</a:t>
            </a:r>
          </a:p>
          <a:p>
            <a:pPr lvl="2" marL="799978" indent="-266659">
              <a:lnSpc>
                <a:spcPts val="4800"/>
              </a:lnSpc>
              <a:buSzPct val="100000"/>
              <a:buFont typeface="Arial"/>
              <a:buChar char="⚬"/>
              <a:defRPr sz="34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Python 3</a:t>
            </a:r>
          </a:p>
          <a:p>
            <a:pPr lvl="2" marL="799978" indent="-266659">
              <a:lnSpc>
                <a:spcPts val="4800"/>
              </a:lnSpc>
              <a:buSzPct val="100000"/>
              <a:buFont typeface="Arial"/>
              <a:buChar char="⚬"/>
              <a:defRPr sz="34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Flask/FastAPI backend(3.0)</a:t>
            </a:r>
          </a:p>
          <a:p>
            <a:pPr lvl="2" marL="799978" indent="-266659">
              <a:lnSpc>
                <a:spcPts val="4800"/>
              </a:lnSpc>
              <a:buSzPct val="100000"/>
              <a:buFont typeface="Arial"/>
              <a:buChar char="⚬"/>
              <a:defRPr sz="34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Web app (React 19.x)</a:t>
            </a:r>
          </a:p>
          <a:p>
            <a:pPr lvl="2" marL="799978" indent="-266659">
              <a:lnSpc>
                <a:spcPts val="4800"/>
              </a:lnSpc>
              <a:buSzPct val="100000"/>
              <a:buFont typeface="Arial"/>
              <a:buChar char="⚬"/>
              <a:defRPr sz="34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Firebase Realtime DB</a:t>
            </a:r>
          </a:p>
          <a:p>
            <a:pPr lvl="2" marL="799978" indent="-266659">
              <a:lnSpc>
                <a:spcPts val="4800"/>
              </a:lnSpc>
              <a:buSzPct val="100000"/>
              <a:buFont typeface="Arial"/>
              <a:buChar char="⚬"/>
              <a:defRPr sz="34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Speech Recognition (Vosk 0.3.45)</a:t>
            </a:r>
          </a:p>
          <a:p>
            <a:pPr lvl="2" marL="799978" indent="-266659">
              <a:lnSpc>
                <a:spcPts val="4800"/>
              </a:lnSpc>
              <a:buSzPct val="100000"/>
              <a:buFont typeface="Arial"/>
              <a:buChar char="⚬"/>
              <a:defRPr sz="34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Raspberry Pi OS(Bookworm)</a:t>
            </a:r>
          </a:p>
          <a:p>
            <a:pPr lvl="2" marL="799978" indent="-266659">
              <a:lnSpc>
                <a:spcPts val="4800"/>
              </a:lnSpc>
              <a:buSzPct val="100000"/>
              <a:buFont typeface="Arial"/>
              <a:buChar char="⚬"/>
              <a:defRPr sz="34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HTTP3 communication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91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Functional requirements</a:t>
            </a:r>
          </a:p>
        </p:txBody>
      </p:sp>
      <p:pic>
        <p:nvPicPr>
          <p:cNvPr id="19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User Authentication and Authorisation</a:t>
            </a:r>
            <a:r>
              <a:t> – Provides secure cloud-based login with role-based access to protect sensitive medical data.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Patient Profile Management</a:t>
            </a:r>
            <a:r>
              <a:t> – Enables caregivers to create and manage individual patient profiles with personal and medical details.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Medicine Assignment and Scheduling</a:t>
            </a:r>
            <a:r>
              <a:t> – Allows caregivers to assign medicines with dosage and timing, supporting real-time updates from the cloud.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Voice Command Recording</a:t>
            </a:r>
            <a:r>
              <a:t> – Allows patients to record medicine requests through a simple and accessible web-based voice interface.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Speech-to-Text Conversion</a:t>
            </a:r>
            <a:r>
              <a:t> – Converts patient voice commands into text for accurate system interpretation.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196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Functional requirements</a:t>
            </a:r>
          </a:p>
        </p:txBody>
      </p:sp>
      <p:pic>
        <p:nvPicPr>
          <p:cNvPr id="19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NLP-Based Intent Detection</a:t>
            </a:r>
            <a:r>
              <a:t> – Analyzes converted text to understand the patient’s intended action using natural language processing.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Medicine Name Recognition and Matching</a:t>
            </a:r>
            <a:r>
              <a:t> – Accurately identifies spoken medicine names and matches them with prescribed medicines.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Validation of Dispensing Requests</a:t>
            </a:r>
            <a:r>
              <a:t> – Ensures medicines are dispensed only if the request is valid, scheduled, and not previously fulfilled.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Automated Medicine Dispensing</a:t>
            </a:r>
            <a:r>
              <a:t> – Uses Raspberry Pi–controlled motors to dispense the correct medicine automatically.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Real-Time Cloud Synchronisation</a:t>
            </a:r>
            <a:r>
              <a:t> – Keeps the web application and hardware system synchronized with live cloud updates.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01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Functional requirements</a:t>
            </a:r>
          </a:p>
        </p:txBody>
      </p:sp>
      <p:pic>
        <p:nvPicPr>
          <p:cNvPr id="2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Alerts and Notifications</a:t>
            </a:r>
            <a:r>
              <a:t> – Notifies users through audio, LED, and LCD alerts during dispensing operations.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  <a:r>
              <a:rPr b="1"/>
              <a:t>Error Detection and Handling</a:t>
            </a:r>
            <a:r>
              <a:t> – Detects system faults and logs errors in the cloud for prompt resolution.</a:t>
            </a:r>
          </a:p>
          <a:p>
            <a:pPr marL="457200" indent="-317500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Times-Roman"/>
              <a:defRPr sz="40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06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Non-Functional requirements</a:t>
            </a:r>
          </a:p>
        </p:txBody>
      </p:sp>
      <p:pic>
        <p:nvPicPr>
          <p:cNvPr id="20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marL="333756" indent="-231775" defTabSz="333756">
              <a:lnSpc>
                <a:spcPct val="100000"/>
              </a:lnSpc>
              <a:spcBef>
                <a:spcPts val="200"/>
              </a:spcBef>
              <a:buClr>
                <a:srgbClr val="FFFFFF"/>
              </a:buClr>
              <a:buFont typeface="Times-Roman"/>
              <a:defRPr sz="2920"/>
            </a:pPr>
            <a:r>
              <a:rPr b="1"/>
              <a:t>Performance Requirements</a:t>
            </a:r>
            <a:r>
              <a:t> – Ensures fast response to voice commands, quick cloud communication, and real-time system synchronisation.</a:t>
            </a:r>
          </a:p>
          <a:p>
            <a:pPr marL="333756" indent="-231775" defTabSz="333756">
              <a:lnSpc>
                <a:spcPct val="100000"/>
              </a:lnSpc>
              <a:spcBef>
                <a:spcPts val="200"/>
              </a:spcBef>
              <a:buClr>
                <a:srgbClr val="FFFFFF"/>
              </a:buClr>
              <a:buFont typeface="Times-Roman"/>
              <a:defRPr sz="2920"/>
            </a:pPr>
            <a:r>
              <a:rPr b="1"/>
              <a:t>Reliability Requirements</a:t>
            </a:r>
            <a:r>
              <a:t> – Guarantees accurate and consistent medicine dispensing with automatic recovery from failures or network issues.</a:t>
            </a:r>
          </a:p>
          <a:p>
            <a:pPr marL="333756" indent="-231775" defTabSz="333756">
              <a:lnSpc>
                <a:spcPct val="100000"/>
              </a:lnSpc>
              <a:spcBef>
                <a:spcPts val="200"/>
              </a:spcBef>
              <a:buClr>
                <a:srgbClr val="FFFFFF"/>
              </a:buClr>
              <a:buFont typeface="Times-Roman"/>
              <a:defRPr sz="2920"/>
            </a:pPr>
            <a:r>
              <a:rPr b="1"/>
              <a:t>Availability Requirements</a:t>
            </a:r>
            <a:r>
              <a:t> – Maintains continuous system operation with minimal downtime, even during power or connectivity interruptions.</a:t>
            </a:r>
          </a:p>
          <a:p>
            <a:pPr marL="333756" indent="-231775" defTabSz="333756">
              <a:lnSpc>
                <a:spcPct val="100000"/>
              </a:lnSpc>
              <a:spcBef>
                <a:spcPts val="200"/>
              </a:spcBef>
              <a:buClr>
                <a:srgbClr val="FFFFFF"/>
              </a:buClr>
              <a:buFont typeface="Times-Roman"/>
              <a:defRPr sz="2920"/>
            </a:pPr>
            <a:r>
              <a:rPr b="1"/>
              <a:t>Security Requirements</a:t>
            </a:r>
            <a:r>
              <a:t> – Protects user data through secure authentication, role-based access control, and encrypted communication.</a:t>
            </a:r>
          </a:p>
          <a:p>
            <a:pPr marL="333756" indent="-231775" defTabSz="333756">
              <a:lnSpc>
                <a:spcPct val="100000"/>
              </a:lnSpc>
              <a:spcBef>
                <a:spcPts val="200"/>
              </a:spcBef>
              <a:buClr>
                <a:srgbClr val="FFFFFF"/>
              </a:buClr>
              <a:buFont typeface="Times-Roman"/>
              <a:defRPr sz="2920"/>
            </a:pPr>
            <a:r>
              <a:rPr b="1"/>
              <a:t>Privacy Requirements</a:t>
            </a:r>
            <a:r>
              <a:t> – Preserves patient confidentiality by limiting data collection and restricting access to authorised users only.</a:t>
            </a:r>
          </a:p>
          <a:p>
            <a:pPr marL="333756" indent="-231775" defTabSz="333756">
              <a:lnSpc>
                <a:spcPct val="100000"/>
              </a:lnSpc>
              <a:spcBef>
                <a:spcPts val="200"/>
              </a:spcBef>
              <a:buClr>
                <a:srgbClr val="FFFFFF"/>
              </a:buClr>
              <a:buFont typeface="Times-Roman"/>
              <a:defRPr sz="2920"/>
            </a:pPr>
            <a:r>
              <a:rPr b="1"/>
              <a:t>Usability Requirements</a:t>
            </a:r>
            <a:r>
              <a:t> – Provides a simple, intuitive interface with voice interaction, visual indicators, and clear audio guidance.</a:t>
            </a:r>
          </a:p>
          <a:p>
            <a:pPr marL="333756" indent="-231775" defTabSz="333756">
              <a:lnSpc>
                <a:spcPct val="100000"/>
              </a:lnSpc>
              <a:spcBef>
                <a:spcPts val="200"/>
              </a:spcBef>
              <a:buClr>
                <a:srgbClr val="FFFFFF"/>
              </a:buClr>
              <a:buFont typeface="Times-Roman"/>
              <a:defRPr sz="2920"/>
            </a:pPr>
            <a:r>
              <a:rPr b="1"/>
              <a:t>Accessibility Requirements</a:t>
            </a:r>
            <a:r>
              <a:t> – Supports users with physical or sensory impairments through voice control and clear feedback mechanisms.</a:t>
            </a:r>
          </a:p>
          <a:p>
            <a:pPr marL="333756" indent="-231775" defTabSz="333756">
              <a:lnSpc>
                <a:spcPct val="100000"/>
              </a:lnSpc>
              <a:spcBef>
                <a:spcPts val="200"/>
              </a:spcBef>
              <a:buClr>
                <a:srgbClr val="FFFFFF"/>
              </a:buClr>
              <a:buFont typeface="Times-Roman"/>
              <a:defRPr sz="2920"/>
            </a:pPr>
            <a:r>
              <a:rPr b="1"/>
              <a:t>Scalability Requirements</a:t>
            </a:r>
            <a:r>
              <a:t> – Allows easy expansion to support more users and future features without affecting system performance.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11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Design- High level Diagrams</a:t>
            </a:r>
          </a:p>
          <a:p>
            <a:pPr defTabSz="1371600">
              <a:defRPr b="1" sz="4200"/>
            </a:pPr>
            <a:r>
              <a:t>Architecture Diagram</a:t>
            </a:r>
          </a:p>
        </p:txBody>
      </p:sp>
      <p:pic>
        <p:nvPicPr>
          <p:cNvPr id="21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Freeform 9"/>
          <p:cNvSpPr/>
          <p:nvPr/>
        </p:nvSpPr>
        <p:spPr>
          <a:xfrm>
            <a:off x="1517812" y="2104128"/>
            <a:ext cx="14218799" cy="802015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16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Design- High Level Diagrams</a:t>
            </a:r>
          </a:p>
          <a:p>
            <a:pPr defTabSz="1371600">
              <a:defRPr b="1" sz="4200"/>
            </a:pPr>
            <a:r>
              <a:t>Context Diagram</a:t>
            </a:r>
          </a:p>
        </p:txBody>
      </p:sp>
      <p:pic>
        <p:nvPicPr>
          <p:cNvPr id="21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Freeform 9"/>
          <p:cNvSpPr/>
          <p:nvPr/>
        </p:nvSpPr>
        <p:spPr>
          <a:xfrm>
            <a:off x="904141" y="2387878"/>
            <a:ext cx="15192240" cy="736224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21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2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App():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state: authView, user, userType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onMount: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init Firebase Auth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onAuthStateChanged: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  if logged in: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    user ← currentUser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    userType ← RTDB(users/uid/userType)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    authView ← home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  else: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    authView ← login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logout():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signOut()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reset states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render: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loading → Spinner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login/signup → Auth Pages</a:t>
            </a:r>
          </a:p>
          <a:p>
            <a:pPr lvl="2" marL="654939" indent="-428625" algn="just" defTabSz="493776">
              <a:lnSpc>
                <a:spcPts val="28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2160"/>
            </a:pPr>
            <a:r>
              <a:t>    home → Patient or Caregiver Dashboard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26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2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AudioRecorder(user):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state: isRecording, audioBlob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startRecording():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request microphone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start MediaRecorder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stopRecording():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stop recorder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upload audio to backend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31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3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processAudio(audio):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send audio → backend (/process_audio)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receive: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transcript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medicine_name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dosage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slot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if medicine detected: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notify dashboard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36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3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MedicineDisplay(user):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onMount: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listen RTDB(medicines/user.uid)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update medicine list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sendInstruction(medicine, dosage):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POST → backend (/send_instruction)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show success message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41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4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//Audio Processing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POST /process_audio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input: audio file + patient_uid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convert audio → WAV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speech → text (Speech Recognition)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extract: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medicine name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dosage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46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4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//NLP and Database Validation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fetch medicine details from Firebase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using patient_uid + medicine_name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return: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transcript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medicine name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dosage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slot number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current status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51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5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//Dispensing Instruction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POST /send_instruction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input: patient_uid + medicine_name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find medicine in Firebase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update status → ready_to_dispense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store timestamp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return slot number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56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5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//Raspberry PI initialisation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Load .env configuration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Read FIREBASE_URL and USER_ID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If configuration missing: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  show error and exit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Initialize: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  Firebase connection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  Speaker (voice alerts)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  DC motor, servo motor, LEDs (GPIO)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Announce system online</a:t>
            </a:r>
          </a:p>
          <a:p>
            <a:pPr lvl="2" marL="970280" indent="-635000" algn="just" defTabSz="731520">
              <a:lnSpc>
                <a:spcPts val="42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3200"/>
            </a:pPr>
            <a:r>
              <a:t>Display startup message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61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6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//Continuous Firebase Monitoring</a:t>
            </a:r>
            <a:br/>
            <a:r>
              <a:t>While system is running: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Fetch medicines from Firebase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If fetch fails or no data: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show error or wait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continue loop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66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6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//Dispencing Logic Execution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For each medicine entry: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If dispense = true and status = "pending":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read name, dosage, slot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speak dispensing message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start LED animation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rotate DC motor (slot)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  open &amp; close servo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71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Pseudo Code</a:t>
            </a:r>
          </a:p>
        </p:txBody>
      </p:sp>
      <p:pic>
        <p:nvPicPr>
          <p:cNvPr id="27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//Status Update and error handling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If dispensing successful: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speak success message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turn on green LED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update Firebase (dispensed)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Else: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speak error message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  blink red LED</a:t>
            </a: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</a:p>
          <a:p>
            <a:pPr lvl="2" marL="1212850" indent="-793750" algn="just" defTabSz="914400">
              <a:lnSpc>
                <a:spcPts val="5300"/>
              </a:lnSpc>
              <a:spcBef>
                <a:spcPts val="0"/>
              </a:spcBef>
              <a:buClr>
                <a:srgbClr val="FFFFFF"/>
              </a:buClr>
              <a:buFont typeface="Times-Roman"/>
              <a:defRPr sz="4000"/>
            </a:pPr>
            <a:r>
              <a:t>Wait before next cycle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76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Screenshots</a:t>
            </a:r>
          </a:p>
        </p:txBody>
      </p:sp>
      <p:pic>
        <p:nvPicPr>
          <p:cNvPr id="27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Screenshot 2025-12-28 at 5.43.19 PM.png" descr="Screenshot 2025-12-28 at 5.43.1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630" y="3146250"/>
            <a:ext cx="8689730" cy="54310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Screenshot 2025-12-28 at 5.43.24 PM.png" descr="Screenshot 2025-12-28 at 5.43.24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143673" y="3125291"/>
            <a:ext cx="8847736" cy="55298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82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Screenshots</a:t>
            </a:r>
          </a:p>
        </p:txBody>
      </p:sp>
      <p:pic>
        <p:nvPicPr>
          <p:cNvPr id="28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" name="Screenshot 2025-12-28 at 5.43.53 PM.png" descr="Screenshot 2025-12-28 at 5.43.5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8064" y="3016819"/>
            <a:ext cx="8686103" cy="54288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Screenshot 2025-12-28 at 5.43.57 PM.png" descr="Screenshot 2025-12-28 at 5.43.57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54862" y="3018354"/>
            <a:ext cx="8681188" cy="54257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88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Screenshots</a:t>
            </a:r>
          </a:p>
        </p:txBody>
      </p:sp>
      <p:pic>
        <p:nvPicPr>
          <p:cNvPr id="28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Screenshot 2025-12-28 at 5.42.38 PM.png" descr="Screenshot 2025-12-28 at 5.42.38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597" y="3016819"/>
            <a:ext cx="8686105" cy="54288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Screenshot 2025-12-28 at 5.43.07 PM.png" descr="Screenshot 2025-12-28 at 5.43.07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65976" y="3016819"/>
            <a:ext cx="8686104" cy="54288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294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Screenshots</a:t>
            </a:r>
          </a:p>
        </p:txBody>
      </p:sp>
      <p:pic>
        <p:nvPicPr>
          <p:cNvPr id="29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" name="Screenshot 2025-12-28 at 5.42.38 PM.png" descr="Screenshot 2025-12-28 at 5.42.38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597" y="3016819"/>
            <a:ext cx="8686105" cy="54288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97" name="Screenshot 2025-12-28 at 5.43.07 PM.png" descr="Screenshot 2025-12-28 at 5.43.07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65976" y="3016819"/>
            <a:ext cx="8686104" cy="54288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300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Test Cases</a:t>
            </a:r>
          </a:p>
        </p:txBody>
      </p:sp>
      <p:pic>
        <p:nvPicPr>
          <p:cNvPr id="30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302" name="Table 1"/>
          <p:cNvGraphicFramePr/>
          <p:nvPr/>
        </p:nvGraphicFramePr>
        <p:xfrm>
          <a:off x="987341" y="2605073"/>
          <a:ext cx="14822433" cy="68457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687991"/>
                <a:gridCol w="2874944"/>
                <a:gridCol w="3504154"/>
                <a:gridCol w="6742642"/>
              </a:tblGrid>
              <a:tr h="743739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Test Case ID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Test Scenario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Input / Action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Expected Output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43739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FE-01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User Login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Enter valid credentials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User successfully logged in and redirected to dashboard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43739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FE-02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Invalid Login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Enter wrong email/password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Error message displayed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5115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FE-03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Role-Based Access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Login as patient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Patient dashboard is displayed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5115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FE-04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Role-Based Access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Login as caregiver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Caregiver dashboard is displayed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5115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FE-05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Voice Recording Start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Click “Start Recording”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Microphone starts recording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5115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FE-06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Voice Recording Stop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Click “Stop Recording”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Audio recording stops and uploads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5115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FE-07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Audio Upload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Submit recorded audio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Backend receives audio successfully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5115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FE-08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Medicine List Fetch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Load dashboard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Medicines fetched from Firebase and displayed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43739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FE-09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Send Dispense Request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Click dispense button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Success message shown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5115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FE-10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Logout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Click logout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User logged out and redirected to login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305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Test Cases</a:t>
            </a:r>
          </a:p>
        </p:txBody>
      </p:sp>
      <p:pic>
        <p:nvPicPr>
          <p:cNvPr id="30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307" name="Table 1-1"/>
          <p:cNvGraphicFramePr/>
          <p:nvPr/>
        </p:nvGraphicFramePr>
        <p:xfrm>
          <a:off x="954379" y="2635143"/>
          <a:ext cx="14927320" cy="703193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609728"/>
                <a:gridCol w="2509783"/>
                <a:gridCol w="6284459"/>
                <a:gridCol w="4510647"/>
              </a:tblGrid>
              <a:tr h="75868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Test Case ID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Test Scenario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Input / API Call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Expected Output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7627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BE-01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Process Audio API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t>POST </a:t>
                      </a:r>
                      <a:r>
                        <a:rPr sz="1300"/>
                        <a:t>/process_audio</a:t>
                      </a:r>
                      <a:r>
                        <a:t> with audio + patient_uid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Returns transcript and medicine details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62222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BE-02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Invalid Audio Input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Corrupted or missing audio file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Error response returned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62222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BE-03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Speech-to-Text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Valid voice command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Correct text transcription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868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BE-04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NLP Intent Detection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“Dispense paracetamol”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Medicine name and dosage extracted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62222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BE-05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Medicine Match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Spoken medicine exists in DB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Correct slot and status returned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62222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BE-06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Medicine Not Found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Unknown medicine name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Error or null response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868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BE-07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Send Instruction API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3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POST </a:t>
                      </a:r>
                      <a:r>
                        <a:t>/send_instruction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Firebase updated to ready_to_dispense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62222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BE-08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Invalid Patient UID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Wrong patient_uid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Error response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62222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BE-09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Firebase Update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Valid medicine request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Status updated with timestamp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62222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BE-10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API Response Time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Normal load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Response within acceptable time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310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References</a:t>
            </a:r>
          </a:p>
        </p:txBody>
      </p:sp>
      <p:pic>
        <p:nvPicPr>
          <p:cNvPr id="31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marL="0" indent="0" defTabSz="438911">
              <a:lnSpc>
                <a:spcPct val="150000"/>
              </a:lnSpc>
              <a:spcBef>
                <a:spcPts val="300"/>
              </a:spcBef>
              <a:buSzTx/>
              <a:buFontTx/>
              <a:buNone/>
              <a:defRPr sz="1919"/>
            </a:pPr>
            <a:r>
              <a:t>[1] Raspberry Pi Foundation, </a:t>
            </a:r>
            <a:r>
              <a:rPr i="1"/>
              <a:t>Raspberry Pi Documentation</a:t>
            </a:r>
            <a:r>
              <a:t>, Raspberry Pi Ltd. [Online]. Available: </a:t>
            </a:r>
            <a:r>
              <a:rPr u="sng">
                <a:hlinkClick r:id="rId3" invalidUrl="" action="" tgtFrame="" tooltip="" history="1" highlightClick="0" endSnd="0"/>
              </a:rPr>
              <a:t>https://www.raspberrypi.com/documentation/</a:t>
            </a:r>
            <a:r>
              <a:t>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[2] Python Software Foundation, </a:t>
            </a:r>
            <a:r>
              <a:rPr i="1"/>
              <a:t>Python 3 Documentation</a:t>
            </a:r>
            <a:r>
              <a:t>. [Online]. Available: </a:t>
            </a:r>
            <a:r>
              <a:rPr u="sng">
                <a:hlinkClick r:id="rId4" invalidUrl="" action="" tgtFrame="" tooltip="" history="1" highlightClick="0" endSnd="0"/>
              </a:rPr>
              <a:t>https://docs.python.org/3/</a:t>
            </a:r>
            <a:r>
              <a:t>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[3] Google, </a:t>
            </a:r>
            <a:r>
              <a:rPr i="1"/>
              <a:t>Firebase Realtime Database Documentation</a:t>
            </a:r>
            <a:r>
              <a:t>. [Online]. Available: </a:t>
            </a:r>
            <a:r>
              <a:rPr u="sng">
                <a:hlinkClick r:id="rId5" invalidUrl="" action="" tgtFrame="" tooltip="" history="1" highlightClick="0" endSnd="0"/>
              </a:rPr>
              <a:t>https://firebase.google.com/docs/database</a:t>
            </a:r>
            <a:r>
              <a:t>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[4] Google, </a:t>
            </a:r>
            <a:r>
              <a:rPr i="1"/>
              <a:t>Firebase Realtime Database Security Rules</a:t>
            </a:r>
            <a:r>
              <a:t>. [Online]. Available: </a:t>
            </a:r>
            <a:r>
              <a:rPr u="sng">
                <a:hlinkClick r:id="rId6" invalidUrl="" action="" tgtFrame="" tooltip="" history="1" highlightClick="0" endSnd="0"/>
              </a:rPr>
              <a:t>https://firebase.google.com/docs/database/security</a:t>
            </a:r>
            <a:r>
              <a:t>. Accessed: 27-Dec-2025.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[5] K. Reitz et al., </a:t>
            </a:r>
            <a:r>
              <a:rPr i="1"/>
              <a:t>Requests: HTTP for Humans – Python Library</a:t>
            </a:r>
            <a:r>
              <a:t>. [Online]. Available: </a:t>
            </a:r>
            <a:r>
              <a:rPr u="sng">
                <a:hlinkClick r:id="rId7" invalidUrl="" action="" tgtFrame="" tooltip="" history="1" highlightClick="0" endSnd="0"/>
              </a:rPr>
              <a:t>https://docs.python-requests.org/</a:t>
            </a:r>
            <a:r>
              <a:t>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[6] S. Frazier, </a:t>
            </a:r>
            <a:r>
              <a:rPr i="1"/>
              <a:t>python-dotenv Documentation</a:t>
            </a:r>
            <a:r>
              <a:t>. [Online]. Available: </a:t>
            </a:r>
            <a:r>
              <a:rPr u="sng">
                <a:hlinkClick r:id="rId8" invalidUrl="" action="" tgtFrame="" tooltip="" history="1" highlightClick="0" endSnd="0"/>
              </a:rPr>
              <a:t>https://pypi.org/project/python-dotenv/</a:t>
            </a:r>
            <a:r>
              <a:t>. Accessed: 27-Dec-2025.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[7] Raspberry Pi Foundation, </a:t>
            </a:r>
            <a:r>
              <a:rPr i="1"/>
              <a:t>RPi.GPIO Python Library Documentation</a:t>
            </a:r>
            <a:r>
              <a:t>. [Online]. Available: </a:t>
            </a:r>
            <a:r>
              <a:rPr u="sng">
                <a:hlinkClick r:id="rId9" invalidUrl="" action="" tgtFrame="" tooltip="" history="1" highlightClick="0" endSnd="0"/>
              </a:rPr>
              <a:t>https://sourceforge.net/p/raspberry-gpio-python/wiki/Home/</a:t>
            </a:r>
            <a:r>
              <a:t>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[8] eSpeak NG Team, </a:t>
            </a:r>
            <a:r>
              <a:rPr i="1"/>
              <a:t>eSpeak NG: Open Source Text-to-Speech Engine</a:t>
            </a:r>
            <a:r>
              <a:t>. [Online]. Available: </a:t>
            </a:r>
            <a:r>
              <a:rPr u="sng">
                <a:hlinkClick r:id="rId10" invalidUrl="" action="" tgtFrame="" tooltip="" history="1" highlightClick="0" endSnd="0"/>
              </a:rPr>
              <a:t>https://github.com/espeak-ng/espeak-ng</a:t>
            </a:r>
            <a:r>
              <a:t>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[9] ALSA Project, </a:t>
            </a:r>
            <a:r>
              <a:rPr i="1"/>
              <a:t>Advanced Linux Sound Architecture (ALSA)</a:t>
            </a:r>
            <a:r>
              <a:t>. [Online]. Available: </a:t>
            </a:r>
            <a:r>
              <a:rPr u="sng">
                <a:hlinkClick r:id="rId11" invalidUrl="" action="" tgtFrame="" tooltip="" history="1" highlightClick="0" endSnd="0"/>
              </a:rPr>
              <a:t>https://www.alsa-project.org/wiki/Main_Page</a:t>
            </a:r>
            <a:r>
              <a:t>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[10] GeeksforGeeks, </a:t>
            </a:r>
            <a:r>
              <a:rPr i="1"/>
              <a:t>Internet of Things (IoT) – Overview</a:t>
            </a:r>
            <a:r>
              <a:t>. [Online]. Available: https://www.geeksforgeeks.org/internet-of-things-iot/.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[11] TutorialsPoint, </a:t>
            </a:r>
            <a:r>
              <a:rPr i="1"/>
              <a:t>Embedded Systems Tutorial</a:t>
            </a:r>
            <a:r>
              <a:t>. [Online]. Available: </a:t>
            </a:r>
            <a:r>
              <a:rPr u="sng">
                <a:hlinkClick r:id="rId12" invalidUrl="" action="" tgtFrame="" tooltip="" history="1" highlightClick="0" endSnd="0"/>
              </a:rPr>
              <a:t>https://www.tutorialspoint.com/embedded_systems/index.htm</a:t>
            </a:r>
            <a:r>
              <a:t>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[12] Electronics Tutorials, </a:t>
            </a:r>
            <a:r>
              <a:rPr i="1"/>
              <a:t>Servo Motor – Working Principle and Control</a:t>
            </a:r>
            <a:r>
              <a:t>. [Online]. Available: https://www.electronics-tutorials.ws/io/servo-motor.html.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[13] Electronics Tutorials, </a:t>
            </a:r>
            <a:r>
              <a:rPr i="1"/>
              <a:t>DC Motor Basics and Control</a:t>
            </a:r>
            <a:r>
              <a:t>. [Online]. Available: https://www.electronics-tutorials.ws/dc/dc-motors.html.</a:t>
            </a:r>
          </a:p>
          <a:p>
            <a:pPr marL="0" indent="0" defTabSz="438911">
              <a:lnSpc>
                <a:spcPct val="150000"/>
              </a:lnSpc>
              <a:buSzTx/>
              <a:buFontTx/>
              <a:buNone/>
              <a:defRPr sz="1919"/>
            </a:pPr>
            <a:r>
              <a:t>[14] IEEE, </a:t>
            </a:r>
            <a:r>
              <a:rPr i="1"/>
              <a:t>IoT Applications in Healthcare Systems</a:t>
            </a:r>
            <a:r>
              <a:t>, IEEE Xplore. [Online]. Available: https://ieeexplore.ieee.org/document/9098167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145;p26"/>
          <p:cNvSpPr/>
          <p:nvPr/>
        </p:nvSpPr>
        <p:spPr>
          <a:xfrm>
            <a:off x="398207" y="1834466"/>
            <a:ext cx="142187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sp>
        <p:nvSpPr>
          <p:cNvPr id="315" name="Google Shape;146;p26"/>
          <p:cNvSpPr txBox="1"/>
          <p:nvPr/>
        </p:nvSpPr>
        <p:spPr>
          <a:xfrm>
            <a:off x="351845" y="160504"/>
            <a:ext cx="15192240" cy="2089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/>
          <a:p>
            <a:pPr defTabSz="1371600">
              <a:defRPr b="1" sz="4800">
                <a:solidFill>
                  <a:srgbClr val="4472C4"/>
                </a:solidFill>
              </a:defRPr>
            </a:pPr>
            <a:r>
              <a:t>SmartMeds</a:t>
            </a:r>
          </a:p>
          <a:p>
            <a:pPr defTabSz="1371600">
              <a:defRPr b="1" sz="4200"/>
            </a:pPr>
            <a:r>
              <a:t>References</a:t>
            </a:r>
          </a:p>
        </p:txBody>
      </p:sp>
      <p:pic>
        <p:nvPicPr>
          <p:cNvPr id="31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8356" y="366142"/>
            <a:ext cx="1281438" cy="2104974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Rectangle 2"/>
          <p:cNvSpPr txBox="1"/>
          <p:nvPr>
            <p:ph type="body" idx="1"/>
          </p:nvPr>
        </p:nvSpPr>
        <p:spPr>
          <a:xfrm>
            <a:off x="428903" y="2080441"/>
            <a:ext cx="16179454" cy="8217636"/>
          </a:xfrm>
          <a:prstGeom prst="rect">
            <a:avLst/>
          </a:prstGeom>
        </p:spPr>
        <p:txBody>
          <a:bodyPr anchor="ctr"/>
          <a:lstStyle/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[1] S. T. George, R. Thomas, and J. Mathew, “An Intelligent Pill Dispenser Using IoT for Chronic Patients,” IEEE International Conference on IoT and Applications, 2020.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Available: https://ieeexplore.ieee.org/document/9359175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[2] N. R. Prasad, S. N. Kumar, and A. Raj, “Smart Medicine Box for Automatic Medication Reminder and Monitoring,” IEEE International Conference on Communication and Electronics Systems, 2021.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Available: https://ieeexplore.ieee.org/document/9519841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[3] A. Chatterjee, M. Sarma, and R. Ghosh, “IoT Based Medication Reminder System for Elderly People,” IEEE International Conference on Computing Methodologies, 2020.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Available: https://ieeexplore.ieee.org/document/9288415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[4] V. S. Reddy, K. Narayana, and M. Kumar, “Voice Enabled Assistive Health Monitoring System,” IEEE International Conference on Inventive Systems and Control, 2021.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Available: https://ieeexplore.ieee.org/document/9398089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[5] M. Shankar, R. Karthik, and S. Vinay, “IoT Based Smart Pill Box with Real-Time Monitoring,” IEEE International Conference on Intelligent Sustainable Systems, 2022.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Available: https://ieeexplore.ieee.org/document/9773136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[6] P. Singh, A. Rana, and M. Khan, “RFID and IoT Based Smart Medicine Dispenser System,” IEEE Access, 2021.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Available: https://ieeexplore.ieee.org/document/9354568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[7] J. Park, Y. Sun, and C. Lee, “Machine Learning Based Elderly Healthcare Assistance System,” IEEE International Conference on Machine Learning and Applications, 2022.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Available: https://ieeexplore.ieee.org/document/10022693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[8] F. Khan, A. Rahman, and R. Basu, “IoT Based Remote Health Monitoring System Using Raspberry Pi,” IEEE International Conference on Computing and Network Communications, 2021.</a:t>
            </a:r>
          </a:p>
          <a:p>
            <a:pPr marL="0" indent="0" algn="just" defTabSz="832104">
              <a:lnSpc>
                <a:spcPts val="2500"/>
              </a:lnSpc>
              <a:spcBef>
                <a:spcPts val="0"/>
              </a:spcBef>
              <a:buSzTx/>
              <a:buFontTx/>
              <a:buNone/>
              <a:defRPr sz="2730"/>
            </a:pPr>
            <a:r>
              <a:t>Available: https://ieeexplore.ieee.org/document/9671026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404;p57"/>
          <p:cNvSpPr/>
          <p:nvPr/>
        </p:nvSpPr>
        <p:spPr>
          <a:xfrm>
            <a:off x="6272776" y="5582194"/>
            <a:ext cx="9875399" cy="1"/>
          </a:xfrm>
          <a:prstGeom prst="line">
            <a:avLst/>
          </a:prstGeom>
          <a:ln w="50800">
            <a:solidFill>
              <a:srgbClr val="DFA267"/>
            </a:solidFill>
            <a:miter/>
          </a:ln>
        </p:spPr>
        <p:txBody>
          <a:bodyPr lIns="68579" tIns="68579" rIns="68579" bIns="68579"/>
          <a:lstStyle/>
          <a:p>
            <a:pPr defTabSz="1371600">
              <a:defRPr sz="2600"/>
            </a:pPr>
          </a:p>
        </p:txBody>
      </p:sp>
      <p:grpSp>
        <p:nvGrpSpPr>
          <p:cNvPr id="324" name="Google Shape;406;p57"/>
          <p:cNvGrpSpPr/>
          <p:nvPr/>
        </p:nvGrpSpPr>
        <p:grpSpPr>
          <a:xfrm>
            <a:off x="470907" y="524200"/>
            <a:ext cx="17277471" cy="9327405"/>
            <a:chOff x="0" y="0"/>
            <a:chExt cx="17277468" cy="9327403"/>
          </a:xfrm>
        </p:grpSpPr>
        <p:sp>
          <p:nvSpPr>
            <p:cNvPr id="320" name="Google Shape;407;p57"/>
            <p:cNvSpPr/>
            <p:nvPr/>
          </p:nvSpPr>
          <p:spPr>
            <a:xfrm>
              <a:off x="17208889" y="16889"/>
              <a:ext cx="68401" cy="1600201"/>
            </a:xfrm>
            <a:prstGeom prst="rect">
              <a:avLst/>
            </a:prstGeom>
            <a:solidFill>
              <a:srgbClr val="F4B081"/>
            </a:solidFill>
            <a:ln w="12700" cap="flat">
              <a:noFill/>
              <a:miter lim="400000"/>
            </a:ln>
            <a:effectLst/>
          </p:spPr>
          <p:txBody>
            <a:bodyPr wrap="square" lIns="68579" tIns="68579" rIns="68579" bIns="68579" numCol="1" anchor="ctr">
              <a:noAutofit/>
            </a:bodyPr>
            <a:lstStyle/>
            <a:p>
              <a:pPr algn="ctr" defTabSz="1371600">
                <a:defRPr sz="2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1" name="Google Shape;408;p57"/>
            <p:cNvSpPr/>
            <p:nvPr/>
          </p:nvSpPr>
          <p:spPr>
            <a:xfrm rot="5400000">
              <a:off x="16443168" y="-765901"/>
              <a:ext cx="68401" cy="1600201"/>
            </a:xfrm>
            <a:prstGeom prst="rect">
              <a:avLst/>
            </a:prstGeom>
            <a:solidFill>
              <a:srgbClr val="F4B081"/>
            </a:solidFill>
            <a:ln w="12700" cap="flat">
              <a:noFill/>
              <a:miter lim="400000"/>
            </a:ln>
            <a:effectLst/>
          </p:spPr>
          <p:txBody>
            <a:bodyPr wrap="square" lIns="68579" tIns="68579" rIns="68579" bIns="68579" numCol="1" anchor="ctr">
              <a:noAutofit/>
            </a:bodyPr>
            <a:lstStyle/>
            <a:p>
              <a:pPr algn="ctr" defTabSz="1371600">
                <a:defRPr sz="2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2" name="Google Shape;409;p57"/>
            <p:cNvSpPr/>
            <p:nvPr/>
          </p:nvSpPr>
          <p:spPr>
            <a:xfrm rot="5400000">
              <a:off x="765899" y="8493103"/>
              <a:ext cx="68401" cy="1600201"/>
            </a:xfrm>
            <a:prstGeom prst="rect">
              <a:avLst/>
            </a:prstGeom>
            <a:solidFill>
              <a:srgbClr val="F4B081"/>
            </a:solidFill>
            <a:ln w="12700" cap="flat">
              <a:noFill/>
              <a:miter lim="400000"/>
            </a:ln>
            <a:effectLst/>
          </p:spPr>
          <p:txBody>
            <a:bodyPr wrap="square" lIns="68579" tIns="68579" rIns="68579" bIns="68579" numCol="1" anchor="ctr">
              <a:noAutofit/>
            </a:bodyPr>
            <a:lstStyle/>
            <a:p>
              <a:pPr algn="ctr" defTabSz="1371600">
                <a:defRPr sz="2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3" name="Google Shape;410;p57"/>
            <p:cNvSpPr/>
            <p:nvPr/>
          </p:nvSpPr>
          <p:spPr>
            <a:xfrm rot="10800000">
              <a:off x="35" y="7710492"/>
              <a:ext cx="68401" cy="1600201"/>
            </a:xfrm>
            <a:prstGeom prst="rect">
              <a:avLst/>
            </a:prstGeom>
            <a:solidFill>
              <a:srgbClr val="F4B081"/>
            </a:solidFill>
            <a:ln w="12700" cap="flat">
              <a:noFill/>
              <a:miter lim="400000"/>
            </a:ln>
            <a:effectLst/>
          </p:spPr>
          <p:txBody>
            <a:bodyPr wrap="square" lIns="68579" tIns="68579" rIns="68579" bIns="68579" numCol="1" anchor="ctr">
              <a:noAutofit/>
            </a:bodyPr>
            <a:lstStyle/>
            <a:p>
              <a:pPr algn="ctr" defTabSz="1371600">
                <a:defRPr sz="26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325" name="Google Shape;411;p57"/>
          <p:cNvSpPr txBox="1"/>
          <p:nvPr/>
        </p:nvSpPr>
        <p:spPr>
          <a:xfrm>
            <a:off x="8091695" y="3415856"/>
            <a:ext cx="6435768" cy="139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50" tIns="68550" rIns="68550" bIns="68550">
            <a:spAutoFit/>
          </a:bodyPr>
          <a:lstStyle>
            <a:lvl1pPr defTabSz="1371600">
              <a:defRPr b="1" sz="9800">
                <a:solidFill>
                  <a:srgbClr val="B45F06"/>
                </a:solidFill>
              </a:defRPr>
            </a:lvl1pPr>
          </a:lstStyle>
          <a:p>
            <a:pPr/>
            <a:r>
              <a:t>THANK YOU</a:t>
            </a:r>
          </a:p>
        </p:txBody>
      </p:sp>
      <p:pic>
        <p:nvPicPr>
          <p:cNvPr id="326" name="Google Shape;412;p57" descr="Google Shape;412;p5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9294" y="1764479"/>
            <a:ext cx="3429001" cy="56296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